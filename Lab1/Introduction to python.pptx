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60" r:id="rId3"/>
    <p:sldId id="262" r:id="rId4"/>
    <p:sldId id="257" r:id="rId5"/>
    <p:sldId id="258" r:id="rId6"/>
    <p:sldId id="259" r:id="rId7"/>
    <p:sldId id="276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7" r:id="rId17"/>
    <p:sldId id="272" r:id="rId18"/>
    <p:sldId id="273" r:id="rId19"/>
    <p:sldId id="274" r:id="rId20"/>
    <p:sldId id="275" r:id="rId21"/>
    <p:sldId id="279" r:id="rId22"/>
    <p:sldId id="278" r:id="rId23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B5A98-8EF3-4A11-8E37-74DDE26F5AAE}" v="5" dt="2024-02-12T12:49:30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D32F06-0ABC-4082-A91A-958DE208B710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9DBE6F-CE77-47C8-8347-1EBC04272C7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46830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Enhanced_funcy</a:t>
            </a:r>
            <a:r>
              <a:rPr lang="en-US" dirty="0"/>
              <a:t> is better because of type hinting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9DBE6F-CE77-47C8-8347-1EBC04272C71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26746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DEC18A-BFE9-40D7-C83C-D5864F8CF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1647E418-8A10-679E-E416-264A5D4A9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18548F2-A535-2A0F-5D90-44D661ADC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5A8C7-E255-4C7E-8139-DB5CD6025FFE}" type="datetimeFigureOut">
              <a:rPr lang="en-DK" smtClean="0"/>
              <a:t>18/02/2026</a:t>
            </a:fld>
            <a:endParaRPr lang="en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77B915B-5DEF-AACA-01B3-2C607BEFA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6132143-66E1-5D1F-2341-81746139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3D257-2092-415E-9247-146581637DC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66776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B6715C-9FFE-60E9-B7C6-3A643A336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D674774-8089-40B7-51E0-D91E3002A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BA4313A-5DE2-4433-E034-FC98236EB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5A8C7-E255-4C7E-8139-DB5CD6025FFE}" type="datetimeFigureOut">
              <a:rPr lang="en-DK" smtClean="0"/>
              <a:t>18/02/2026</a:t>
            </a:fld>
            <a:endParaRPr lang="en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FBD7CDA-378A-84B1-25D9-919697ED8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AE116EC-0401-34D8-BCBA-C90A14586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3D257-2092-415E-9247-146581637DC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94700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F56A8D-F1F7-EB91-5F78-4ED8F6304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5A6E68E-846E-76FA-B297-AD479A0FF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E8CC470-BD6D-1EA7-D228-E51363B2E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5A8C7-E255-4C7E-8139-DB5CD6025FFE}" type="datetimeFigureOut">
              <a:rPr lang="en-DK" smtClean="0"/>
              <a:t>18/02/2026</a:t>
            </a:fld>
            <a:endParaRPr lang="en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9E6C12B-30A7-AE0F-CCD9-29DD04773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58CE473-AA6D-5A78-9701-8B9B9A811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3D257-2092-415E-9247-146581637DC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73862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B0FCEF-809B-10B8-BCDE-BDFFCCB90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EFBA400-17B2-8824-B59A-717C310B07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F7409B6A-A8FB-DDB2-5192-B8BF11788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F225F02-743A-89C0-6C90-4D146D830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5A8C7-E255-4C7E-8139-DB5CD6025FFE}" type="datetimeFigureOut">
              <a:rPr lang="en-DK" smtClean="0"/>
              <a:t>18/02/2026</a:t>
            </a:fld>
            <a:endParaRPr lang="en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97505537-8E81-56FB-5786-34CE06AC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2878F0C8-FF82-1922-AF93-EEEBFE736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3D257-2092-415E-9247-146581637DC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49119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D12D1D-3834-88E5-DCC3-CBC57A552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1472F38-8729-4A4F-793D-F88ABDB11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3EF5993-415B-B5AC-7B1E-43A2CA95E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4D205D8A-C5EA-2809-109A-B77F6587AC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30B495F9-E75F-1C10-A4C4-D95BC135AD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7D8E183D-5AE3-0899-E759-F17D7BC29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5A8C7-E255-4C7E-8139-DB5CD6025FFE}" type="datetimeFigureOut">
              <a:rPr lang="en-DK" smtClean="0"/>
              <a:t>18/02/2026</a:t>
            </a:fld>
            <a:endParaRPr lang="en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ED445F4A-AC3C-9E98-C5C0-324CE9548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32854189-913F-595D-508D-DD21F7F2A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3D257-2092-415E-9247-146581637DC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3536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04A988-D2D5-8810-53ED-F501C8196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8992BFF7-B6D8-412E-7491-29F2120BA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5A8C7-E255-4C7E-8139-DB5CD6025FFE}" type="datetimeFigureOut">
              <a:rPr lang="en-DK" smtClean="0"/>
              <a:t>18/02/2026</a:t>
            </a:fld>
            <a:endParaRPr lang="en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A32B3691-339F-1416-9BA2-7EAF44F74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E3EB2A84-A246-912A-7F82-811CFD13A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3D257-2092-415E-9247-146581637DC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4032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B98555F9-4A2B-EACF-E660-74DDBED09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5A8C7-E255-4C7E-8139-DB5CD6025FFE}" type="datetimeFigureOut">
              <a:rPr lang="en-DK" smtClean="0"/>
              <a:t>18/02/2026</a:t>
            </a:fld>
            <a:endParaRPr lang="en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43D4B08C-BA42-4475-5680-D2B32DE8E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4416441-EF29-E266-1826-44A13E60C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3D257-2092-415E-9247-146581637DC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58295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360AD8-BFF5-7351-9A59-83E48102D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0033CA3-23D4-4AD7-58C4-48A4527B6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1406CC15-045B-B28F-2570-670E2271C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24D8566-8123-FA66-27D1-34C892762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5A8C7-E255-4C7E-8139-DB5CD6025FFE}" type="datetimeFigureOut">
              <a:rPr lang="en-DK" smtClean="0"/>
              <a:t>18/02/2026</a:t>
            </a:fld>
            <a:endParaRPr lang="en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BA8B4CB-6802-700D-E533-458C6658A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71D329A-6DA2-8E97-3286-03903B810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3D257-2092-415E-9247-146581637DC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90077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6DE17F-E2D6-16F9-3B44-6FD301952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1B0A45CD-0AFF-855D-BF3D-7AF5FDC01F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880785BF-DA81-704A-C920-5F66A31DA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8FE7103-30C9-6039-2EFA-B6E841997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5A8C7-E255-4C7E-8139-DB5CD6025FFE}" type="datetimeFigureOut">
              <a:rPr lang="en-DK" smtClean="0"/>
              <a:t>18/02/2026</a:t>
            </a:fld>
            <a:endParaRPr lang="en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441787A-5E2D-AE44-BA64-9980A67C8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CDAFACF4-7D39-BFC9-904C-E6E587729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3D257-2092-415E-9247-146581637DC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18055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9BF7AC-8A80-A8A5-3A8B-C75C76C34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11B27FA8-0344-CEA4-DA78-27B5A9D65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65D4EDF-B4D6-0080-F777-116197A1C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5A8C7-E255-4C7E-8139-DB5CD6025FFE}" type="datetimeFigureOut">
              <a:rPr lang="en-DK" smtClean="0"/>
              <a:t>18/02/2026</a:t>
            </a:fld>
            <a:endParaRPr lang="en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A73C13D-336A-7A58-F019-144FD2B05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66EDB8C-A456-042A-3149-261085650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3D257-2092-415E-9247-146581637DC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46218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62E5876E-9668-5EEB-3864-33D1A16E6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0A6F60D0-1623-6652-7B5E-69E2537EC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A2B3982-9067-F65F-CA4C-9CC35DB78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5A8C7-E255-4C7E-8139-DB5CD6025FFE}" type="datetimeFigureOut">
              <a:rPr lang="en-DK" smtClean="0"/>
              <a:t>18/02/2026</a:t>
            </a:fld>
            <a:endParaRPr lang="en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A3DAA84-47C5-FC36-3ABD-01AEEE58C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C04E481-D21F-8FCF-B2AB-6F02D2AE3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3D257-2092-415E-9247-146581637DC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3501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C49E17C2-F2DF-A388-B7B3-78D98568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798E600-8395-E149-C0CC-76EB40EF0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A1BD029-9856-5B3A-DC45-0C48D5384E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5A8C7-E255-4C7E-8139-DB5CD6025FFE}" type="datetimeFigureOut">
              <a:rPr lang="en-DK" smtClean="0"/>
              <a:t>18/02/2026</a:t>
            </a:fld>
            <a:endParaRPr lang="en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A4AEB23-712F-88D1-FFEA-ADD6B99148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3783EDF-C09E-7246-938E-ED40E58267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3D257-2092-415E-9247-146581637DC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8002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hyperlink" Target="https://www.jetbrains.com/community/education/#student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de.visualstudio.com/docs/languages/python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tutorial/venv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docs.python.org/3/tutorial/inputoutput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ython/python_datatypes.asp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ip.pypa.io/en/stable/reference/requirements-file-format/" TargetMode="External"/><Relationship Id="rId2" Type="http://schemas.openxmlformats.org/officeDocument/2006/relationships/hyperlink" Target="https://learnpython.com/blog/python-requirements-fil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tutorial/datastructures.html" TargetMode="External"/><Relationship Id="rId2" Type="http://schemas.openxmlformats.org/officeDocument/2006/relationships/hyperlink" Target="https://docs.python.org/3/library/typing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3schools.com/python/python_lambda.asp" TargetMode="External"/><Relationship Id="rId4" Type="http://schemas.openxmlformats.org/officeDocument/2006/relationships/hyperlink" Target="https://www.geeksforgeeks.org/ternary-operator-in-python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sdu.dk/ai-course-f24/ai-course-f24-lab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1B81E4-CB5F-67C1-96AD-72F61978DD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Introduction to Python</a:t>
            </a:r>
            <a:endParaRPr lang="en-DK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7E597A9-D6E4-23AD-D7CE-DF85F1134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9775" y="3593476"/>
            <a:ext cx="6549776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DK">
                <a:cs typeface="Calibri"/>
              </a:rPr>
              <a:t>Please stay even if you know Python, we will be covering newer aspects like type hinting and we will do our best to be brief</a:t>
            </a:r>
            <a:endParaRPr lang="en-DK"/>
          </a:p>
        </p:txBody>
      </p:sp>
      <p:pic>
        <p:nvPicPr>
          <p:cNvPr id="1026" name="Picture 2" descr="upload.wikimedia.org/wikipedia/commons/thumb/c/c3/...">
            <a:extLst>
              <a:ext uri="{FF2B5EF4-FFF2-40B4-BE49-F238E27FC236}">
                <a16:creationId xmlns:a16="http://schemas.microsoft.com/office/drawing/2014/main" id="{6EC40ECF-941B-85E1-D3D7-01D58ECD2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40" y="84897"/>
            <a:ext cx="1771650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4992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B58111-C189-653D-33CC-DB1937BC1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>
                <a:cs typeface="Calibri Light"/>
              </a:rPr>
              <a:t>What is Python</a:t>
            </a:r>
            <a:endParaRPr lang="en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4CEA450-26D6-4B65-F025-0D87719DD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DK" dirty="0">
                <a:cs typeface="Calibri"/>
              </a:rPr>
              <a:t>A scripting language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DK" dirty="0">
                <a:cs typeface="Calibri"/>
              </a:rPr>
              <a:t>Not compiled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DK" dirty="0">
                <a:cs typeface="Calibri"/>
              </a:rPr>
              <a:t>No need for: static void main(string[] </a:t>
            </a:r>
            <a:r>
              <a:rPr lang="en-DK" dirty="0" err="1">
                <a:cs typeface="Calibri"/>
              </a:rPr>
              <a:t>args</a:t>
            </a:r>
            <a:r>
              <a:rPr lang="en-DK" dirty="0">
                <a:cs typeface="Calibri"/>
              </a:rPr>
              <a:t>)</a:t>
            </a:r>
          </a:p>
          <a:p>
            <a:r>
              <a:rPr lang="en-DK" dirty="0">
                <a:cs typeface="Calibri"/>
              </a:rPr>
              <a:t>Built in REPL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DK" dirty="0">
                <a:cs typeface="Calibri"/>
              </a:rPr>
              <a:t>Accessed by running python in the terminal with no comments</a:t>
            </a:r>
          </a:p>
          <a:p>
            <a:r>
              <a:rPr lang="en-DK" dirty="0">
                <a:cs typeface="Calibri"/>
              </a:rPr>
              <a:t>Not the first choice if speed of execution is important</a:t>
            </a:r>
          </a:p>
          <a:p>
            <a:r>
              <a:rPr lang="en-DK" dirty="0">
                <a:cs typeface="Calibri"/>
              </a:rPr>
              <a:t>Could be the first choice if development speed for small programs is important</a:t>
            </a:r>
          </a:p>
          <a:p>
            <a:endParaRPr lang="en-DK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1602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6C1466-36EB-9196-4806-791300C60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>
                <a:cs typeface="Calibri Light"/>
              </a:rPr>
              <a:t>The REPL?</a:t>
            </a:r>
            <a:endParaRPr lang="da-DK"/>
          </a:p>
        </p:txBody>
      </p:sp>
      <p:pic>
        <p:nvPicPr>
          <p:cNvPr id="4" name="Pladsholder til indhold 3" descr="Et billede, der indeholder tekst, skærmbillede, software, Multimediesoftware&#10;&#10;Beskrivelsen er genereret automatisk">
            <a:extLst>
              <a:ext uri="{FF2B5EF4-FFF2-40B4-BE49-F238E27FC236}">
                <a16:creationId xmlns:a16="http://schemas.microsoft.com/office/drawing/2014/main" id="{D4E93D98-CCA9-4045-FF16-2DCB536E26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9258" y="1710238"/>
            <a:ext cx="4991335" cy="4290483"/>
          </a:xfrm>
        </p:spPr>
      </p:pic>
    </p:spTree>
    <p:extLst>
      <p:ext uri="{BB962C8B-B14F-4D97-AF65-F5344CB8AC3E}">
        <p14:creationId xmlns:p14="http://schemas.microsoft.com/office/powerpoint/2010/main" val="3581806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CED87E-E14B-103B-EEED-C83E970A8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Installing Python</a:t>
            </a:r>
            <a:endParaRPr lang="en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39D9539-77A3-3ABC-94D2-FC9F68585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Version 3.13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Best support for type hinting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Faster runtime performance than older versions</a:t>
            </a:r>
            <a:endParaRPr lang="en-US" dirty="0"/>
          </a:p>
          <a:p>
            <a:r>
              <a:rPr lang="en-US" dirty="0">
                <a:hlinkClick r:id="rId2"/>
              </a:rPr>
              <a:t>https://www.python.org/downloads/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85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C93FE9-27D3-D89E-64D6-CEAB7CE77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</a:t>
            </a:r>
            <a:endParaRPr lang="en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BF6FB1B-7DE4-9C72-82FC-6CEEC5AC5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PyCharm (with JetBrains student license) (What I use)</a:t>
            </a:r>
          </a:p>
          <a:p>
            <a:pPr lvl="1"/>
            <a:r>
              <a:rPr lang="en-US" dirty="0">
                <a:hlinkClick r:id="rId2"/>
              </a:rPr>
              <a:t>https://www.jetbrains.com/community/education/#students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OR</a:t>
            </a:r>
            <a:endParaRPr lang="en-US" dirty="0">
              <a:cs typeface="Calibri"/>
            </a:endParaRPr>
          </a:p>
          <a:p>
            <a:r>
              <a:rPr lang="en-US" dirty="0" err="1"/>
              <a:t>VSCode</a:t>
            </a:r>
            <a:r>
              <a:rPr lang="en-US" dirty="0"/>
              <a:t> 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hlinkClick r:id="rId3"/>
              </a:rPr>
              <a:t>https://code.visualstudio.com/</a:t>
            </a:r>
            <a:endParaRPr lang="en-US" dirty="0"/>
          </a:p>
          <a:p>
            <a:pPr lvl="1"/>
            <a:r>
              <a:rPr lang="en-US" dirty="0"/>
              <a:t>Extension </a:t>
            </a:r>
            <a:endParaRPr lang="en-US" dirty="0">
              <a:cs typeface="Calibri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hlinkClick r:id="rId4"/>
              </a:rPr>
              <a:t>https://code.visualstudio.com/docs/languages/python</a:t>
            </a:r>
            <a:r>
              <a:rPr lang="en-US" dirty="0"/>
              <a:t> </a:t>
            </a:r>
            <a:endParaRPr lang="en-US" dirty="0">
              <a:cs typeface="Calibri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712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35EEE3-CCD1-751D-2718-ECE265DC7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 environment (</a:t>
            </a:r>
            <a:r>
              <a:rPr lang="en-US" err="1"/>
              <a:t>Venv</a:t>
            </a:r>
            <a:r>
              <a:rPr lang="en-US"/>
              <a:t>) PyCharm</a:t>
            </a:r>
            <a:endParaRPr lang="en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36C5EDF-D15E-BBA9-7238-22CEAA1DF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latin typeface="Calibri"/>
                <a:cs typeface="Calibri"/>
              </a:rPr>
              <a:t>Ensures dependency isolation between projects</a:t>
            </a:r>
            <a:endParaRPr lang="da-DK">
              <a:latin typeface="Calibri"/>
              <a:cs typeface="Calibri"/>
            </a:endParaRPr>
          </a:p>
          <a:p>
            <a:r>
              <a:rPr lang="en-US" b="0" i="0">
                <a:effectLst/>
                <a:latin typeface="Calibri"/>
                <a:cs typeface="Calibri"/>
                <a:hlinkClick r:id="rId2" tooltip="https://docs.python.org/3/tutorial/venv.html"/>
              </a:rPr>
              <a:t>https://docs.python.org/3/tutorial/venv.html</a:t>
            </a:r>
            <a:endParaRPr lang="en-US" b="0" i="0">
              <a:effectLst/>
              <a:latin typeface="Calibri"/>
              <a:cs typeface="Calibri"/>
            </a:endParaRPr>
          </a:p>
          <a:p>
            <a:pPr marL="0" indent="0">
              <a:buNone/>
            </a:pPr>
            <a:endParaRPr lang="en-US"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en-US">
                <a:latin typeface="Calibri"/>
                <a:cs typeface="Calibri"/>
              </a:rPr>
              <a:t>PyCharm</a:t>
            </a:r>
          </a:p>
          <a:p>
            <a:pPr marL="457200" indent="-457200"/>
            <a:r>
              <a:rPr lang="en-US">
                <a:latin typeface="Calibri"/>
                <a:cs typeface="Calibri"/>
              </a:rPr>
              <a:t>Settings -&gt; </a:t>
            </a:r>
          </a:p>
          <a:p>
            <a:pPr marL="457200" indent="-457200"/>
            <a:r>
              <a:rPr lang="en-US">
                <a:latin typeface="Calibri"/>
                <a:cs typeface="Calibri"/>
              </a:rPr>
              <a:t>Python interpreter -&gt; </a:t>
            </a:r>
          </a:p>
          <a:p>
            <a:pPr marL="457200" indent="-457200"/>
            <a:r>
              <a:rPr lang="en-US">
                <a:latin typeface="Calibri"/>
                <a:cs typeface="Calibri"/>
              </a:rPr>
              <a:t>Add interpreter -&gt; </a:t>
            </a:r>
          </a:p>
          <a:p>
            <a:pPr marL="457200" indent="-457200"/>
            <a:r>
              <a:rPr lang="en-US">
                <a:latin typeface="Calibri"/>
                <a:cs typeface="Calibri"/>
              </a:rPr>
              <a:t>Local -&gt; </a:t>
            </a:r>
          </a:p>
          <a:p>
            <a:pPr marL="457200" indent="-457200"/>
            <a:r>
              <a:rPr lang="en-US">
                <a:latin typeface="Calibri"/>
                <a:cs typeface="Calibri"/>
              </a:rPr>
              <a:t>New virtual env</a:t>
            </a:r>
          </a:p>
          <a:p>
            <a:pPr lvl="1"/>
            <a:endParaRPr lang="en-US">
              <a:latin typeface="inherit"/>
            </a:endParaRPr>
          </a:p>
          <a:p>
            <a:pPr lvl="1"/>
            <a:endParaRPr lang="en-US" b="0" i="0"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4167073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B05BC0-4229-F5B6-98DE-C20A7D608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 environment (</a:t>
            </a:r>
            <a:r>
              <a:rPr lang="en-US" err="1"/>
              <a:t>Venv</a:t>
            </a:r>
            <a:r>
              <a:rPr lang="en-US"/>
              <a:t>) VSCode</a:t>
            </a:r>
            <a:endParaRPr lang="en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6037DCE-EB50-4EA9-C42A-3D3D47DFF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err="1"/>
              <a:t>VSCode</a:t>
            </a:r>
            <a:endParaRPr lang="en-US"/>
          </a:p>
          <a:p>
            <a:r>
              <a:rPr lang="en-US" dirty="0"/>
              <a:t>Cd into folder where you want python </a:t>
            </a:r>
            <a:r>
              <a:rPr lang="en-US" dirty="0" err="1"/>
              <a:t>venv</a:t>
            </a:r>
            <a:r>
              <a:rPr lang="en-US" dirty="0"/>
              <a:t> to be located.</a:t>
            </a:r>
          </a:p>
          <a:p>
            <a:r>
              <a:rPr lang="en-US" dirty="0"/>
              <a:t>“python –m </a:t>
            </a:r>
            <a:r>
              <a:rPr lang="en-US" dirty="0" err="1"/>
              <a:t>venv</a:t>
            </a:r>
            <a:r>
              <a:rPr lang="en-US" dirty="0"/>
              <a:t> &lt;name of virtual env&gt;“</a:t>
            </a:r>
          </a:p>
        </p:txBody>
      </p:sp>
    </p:spTree>
    <p:extLst>
      <p:ext uri="{BB962C8B-B14F-4D97-AF65-F5344CB8AC3E}">
        <p14:creationId xmlns:p14="http://schemas.microsoft.com/office/powerpoint/2010/main" val="333912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80DF78-1849-8CCB-B439-CB291A7EC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>
                <a:cs typeface="Calibri Light"/>
              </a:rPr>
              <a:t>Variables</a:t>
            </a:r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2409A28-4BAF-902F-B733-4DABAE5F5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a-DK" dirty="0">
                <a:cs typeface="Calibri"/>
              </a:rPr>
              <a:t>Dynamic Typing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dirty="0">
                <a:cs typeface="Calibri"/>
              </a:rPr>
              <a:t>Type is decided based on assigned value</a:t>
            </a:r>
          </a:p>
          <a:p>
            <a:r>
              <a:rPr lang="da-DK" dirty="0">
                <a:cs typeface="Calibri"/>
              </a:rPr>
              <a:t>No constants*</a:t>
            </a:r>
          </a:p>
          <a:p>
            <a:r>
              <a:rPr lang="da-DK" dirty="0">
                <a:cs typeface="Calibri"/>
              </a:rPr>
              <a:t>Functions can be assigned to variables and function names are variables</a:t>
            </a:r>
          </a:p>
          <a:p>
            <a:pPr marL="0" indent="0">
              <a:buNone/>
            </a:pPr>
            <a:endParaRPr lang="da-DK" dirty="0">
              <a:cs typeface="Calibri"/>
            </a:endParaRPr>
          </a:p>
          <a:p>
            <a:endParaRPr lang="da-DK" dirty="0">
              <a:cs typeface="Calibri"/>
            </a:endParaRPr>
          </a:p>
          <a:p>
            <a:endParaRPr lang="da-DK" dirty="0">
              <a:cs typeface="Calibri"/>
            </a:endParaRPr>
          </a:p>
          <a:p>
            <a:pPr marL="0" indent="0">
              <a:buNone/>
            </a:pPr>
            <a:endParaRPr lang="da-DK" dirty="0">
              <a:cs typeface="Calibri"/>
            </a:endParaRPr>
          </a:p>
        </p:txBody>
      </p:sp>
      <p:pic>
        <p:nvPicPr>
          <p:cNvPr id="5" name="Billede 4" descr="Et billede, der indeholder tekst, skærmbillede, Font/skrifttype, display/skærm/fremvisning&#10;&#10;Beskrivelsen er genereret automatisk">
            <a:extLst>
              <a:ext uri="{FF2B5EF4-FFF2-40B4-BE49-F238E27FC236}">
                <a16:creationId xmlns:a16="http://schemas.microsoft.com/office/drawing/2014/main" id="{F5C3B2E7-07BF-3C67-450B-8949AFE34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456" y="1032346"/>
            <a:ext cx="4111978" cy="204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215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BAFB2F-0CC9-9892-82A1-F44C23E20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>
                <a:cs typeface="Calibri Light"/>
              </a:rPr>
              <a:t>Functions</a:t>
            </a:r>
            <a:endParaRPr lang="da-DK" err="1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32569B7-4F86-3957-F5A7-7B7087466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a-DK" err="1">
                <a:cs typeface="Calibri"/>
              </a:rPr>
              <a:t>Example</a:t>
            </a:r>
            <a:r>
              <a:rPr lang="da-DK">
                <a:cs typeface="Calibri"/>
              </a:rPr>
              <a:t>:</a:t>
            </a:r>
            <a:endParaRPr lang="da-DK"/>
          </a:p>
        </p:txBody>
      </p:sp>
      <p:pic>
        <p:nvPicPr>
          <p:cNvPr id="4" name="Billede 3" descr="Et billede, der indeholder tekst, skærmbillede, Font/skrifttype, display/skærm/fremvisning&#10;&#10;Beskrivelsen er genereret automatisk">
            <a:extLst>
              <a:ext uri="{FF2B5EF4-FFF2-40B4-BE49-F238E27FC236}">
                <a16:creationId xmlns:a16="http://schemas.microsoft.com/office/drawing/2014/main" id="{B0264AF8-5190-E254-907C-3CA0D55C9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844" y="2219932"/>
            <a:ext cx="6373719" cy="400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204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312437-769E-C5D4-73C5-136CE8B8C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>
                <a:cs typeface="Calibri Light"/>
              </a:rPr>
              <a:t>Printing</a:t>
            </a:r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4B324E5-8DB7-D8DC-8F9B-55582BD66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a-DK">
                <a:cs typeface="Calibri"/>
              </a:rPr>
              <a:t>The print </a:t>
            </a:r>
            <a:r>
              <a:rPr lang="da-DK" err="1">
                <a:cs typeface="Calibri"/>
              </a:rPr>
              <a:t>function</a:t>
            </a:r>
            <a:endParaRPr lang="da-DK">
              <a:cs typeface="Calibri"/>
            </a:endParaRPr>
          </a:p>
          <a:p>
            <a:r>
              <a:rPr lang="da-DK" err="1">
                <a:cs typeface="Calibri"/>
              </a:rPr>
              <a:t>String</a:t>
            </a:r>
            <a:r>
              <a:rPr lang="da-DK">
                <a:cs typeface="Calibri"/>
              </a:rPr>
              <a:t> formatting with f-</a:t>
            </a:r>
            <a:r>
              <a:rPr lang="da-DK" err="1">
                <a:cs typeface="Calibri"/>
              </a:rPr>
              <a:t>strings</a:t>
            </a:r>
            <a:endParaRPr lang="da-DK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da-DK">
                <a:cs typeface="Calibri"/>
              </a:rPr>
              <a:t>Dont </a:t>
            </a:r>
            <a:r>
              <a:rPr lang="da-DK" err="1">
                <a:cs typeface="Calibri"/>
              </a:rPr>
              <a:t>use</a:t>
            </a:r>
            <a:r>
              <a:rPr lang="da-DK">
                <a:cs typeface="Calibri"/>
              </a:rPr>
              <a:t> the old </a:t>
            </a:r>
            <a:r>
              <a:rPr lang="da-DK" err="1">
                <a:cs typeface="Calibri"/>
              </a:rPr>
              <a:t>way</a:t>
            </a:r>
            <a:endParaRPr lang="da-DK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da-DK">
                <a:ea typeface="+mn-lt"/>
                <a:cs typeface="+mn-lt"/>
                <a:hlinkClick r:id="rId2"/>
              </a:rPr>
              <a:t>https://docs.python.org/3/tutorial/inputoutput.html</a:t>
            </a:r>
            <a:r>
              <a:rPr lang="da-DK">
                <a:ea typeface="+mn-lt"/>
                <a:cs typeface="+mn-lt"/>
              </a:rPr>
              <a:t> </a:t>
            </a:r>
          </a:p>
          <a:p>
            <a:endParaRPr lang="da-DK">
              <a:cs typeface="Calibri"/>
            </a:endParaRPr>
          </a:p>
        </p:txBody>
      </p:sp>
      <p:pic>
        <p:nvPicPr>
          <p:cNvPr id="4" name="Billede 3" descr="Et billede, der indeholder tekst, skærmbillede, Font/skrifttype, display/skærm/fremvisning&#10;&#10;Beskrivelsen er genereret automatisk">
            <a:extLst>
              <a:ext uri="{FF2B5EF4-FFF2-40B4-BE49-F238E27FC236}">
                <a16:creationId xmlns:a16="http://schemas.microsoft.com/office/drawing/2014/main" id="{E2546DA2-2E2F-BC3A-F618-AC62E526A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3601167"/>
            <a:ext cx="6096000" cy="255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62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3137ED-274F-2BD8-57AB-F13BA07A6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>
                <a:cs typeface="Calibri Light"/>
              </a:rPr>
              <a:t>Comments</a:t>
            </a:r>
            <a:endParaRPr lang="da-DK" err="1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596455A-8F98-40C7-05F2-06A645FA7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3845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>
                <a:cs typeface="Calibri"/>
              </a:rPr>
              <a:t># single line </a:t>
            </a:r>
            <a:r>
              <a:rPr lang="da-DK" err="1">
                <a:cs typeface="Calibri"/>
              </a:rPr>
              <a:t>comment</a:t>
            </a:r>
            <a:endParaRPr lang="da-DK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err="1">
                <a:cs typeface="Calibri"/>
              </a:rPr>
              <a:t>VsCode</a:t>
            </a:r>
            <a:r>
              <a:rPr lang="da-DK">
                <a:cs typeface="Calibri"/>
              </a:rPr>
              <a:t> (</a:t>
            </a:r>
            <a:r>
              <a:rPr lang="da-DK" err="1">
                <a:cs typeface="Calibri"/>
              </a:rPr>
              <a:t>Ctrl</a:t>
            </a:r>
            <a:r>
              <a:rPr lang="da-DK">
                <a:cs typeface="Calibri"/>
              </a:rPr>
              <a:t> + K -&gt; C/U) </a:t>
            </a:r>
          </a:p>
          <a:p>
            <a:endParaRPr lang="da-DK">
              <a:cs typeface="Calibri"/>
            </a:endParaRPr>
          </a:p>
          <a:p>
            <a:endParaRPr lang="da-DK">
              <a:cs typeface="Calibri"/>
            </a:endParaRPr>
          </a:p>
          <a:p>
            <a:r>
              <a:rPr lang="da-DK" err="1">
                <a:cs typeface="Calibri"/>
              </a:rPr>
              <a:t>Function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documentation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using</a:t>
            </a:r>
            <a:r>
              <a:rPr lang="da-DK">
                <a:cs typeface="Calibri"/>
              </a:rPr>
              <a:t> """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>
                <a:cs typeface="Calibri"/>
              </a:rPr>
              <a:t>Can </a:t>
            </a:r>
            <a:r>
              <a:rPr lang="da-DK" err="1">
                <a:cs typeface="Calibri"/>
              </a:rPr>
              <a:t>be</a:t>
            </a:r>
            <a:r>
              <a:rPr lang="da-DK">
                <a:cs typeface="Calibri"/>
              </a:rPr>
              <a:t> </a:t>
            </a:r>
            <a:r>
              <a:rPr lang="da-DK" err="1">
                <a:cs typeface="Calibri"/>
              </a:rPr>
              <a:t>accessed</a:t>
            </a:r>
            <a:r>
              <a:rPr lang="da-DK">
                <a:cs typeface="Calibri"/>
              </a:rPr>
              <a:t> in </a:t>
            </a:r>
            <a:r>
              <a:rPr lang="da-DK" err="1">
                <a:cs typeface="Calibri"/>
              </a:rPr>
              <a:t>pycharm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using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ctrl+q</a:t>
            </a:r>
            <a:endParaRPr lang="da-DK">
              <a:cs typeface="Calibri"/>
            </a:endParaRPr>
          </a:p>
        </p:txBody>
      </p:sp>
      <p:pic>
        <p:nvPicPr>
          <p:cNvPr id="4" name="Billede 3" descr="Et billede, der indeholder tekst, skærmbillede, Font/skrifttype, display/skærm/fremvisning&#10;&#10;Beskrivelsen er genereret automatisk">
            <a:extLst>
              <a:ext uri="{FF2B5EF4-FFF2-40B4-BE49-F238E27FC236}">
                <a16:creationId xmlns:a16="http://schemas.microsoft.com/office/drawing/2014/main" id="{777055B9-0A9B-2E38-AD62-58E913D2E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131" y="2969496"/>
            <a:ext cx="5699306" cy="3587573"/>
          </a:xfrm>
          <a:prstGeom prst="rect">
            <a:avLst/>
          </a:prstGeom>
        </p:spPr>
      </p:pic>
      <p:pic>
        <p:nvPicPr>
          <p:cNvPr id="6" name="Billede 5" descr="Et billede, der indeholder tekst, skærmbillede, Font/skrifttype, display/skærm/fremvisning&#10;&#10;Beskrivelsen er genereret automatisk">
            <a:extLst>
              <a:ext uri="{FF2B5EF4-FFF2-40B4-BE49-F238E27FC236}">
                <a16:creationId xmlns:a16="http://schemas.microsoft.com/office/drawing/2014/main" id="{0882599E-7942-626C-C99E-CFB476AD6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202" y="652871"/>
            <a:ext cx="4931596" cy="20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789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7ED49A-6E3A-9099-6AB4-847C20709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>
                <a:cs typeface="Calibri Light"/>
              </a:rPr>
              <a:t>Running </a:t>
            </a:r>
            <a:r>
              <a:rPr lang="da-DK" err="1">
                <a:cs typeface="Calibri Light"/>
              </a:rPr>
              <a:t>code</a:t>
            </a:r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7A16E53-62D5-B726-320C-44BCF74D3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a-DK">
                <a:cs typeface="Calibri"/>
              </a:rPr>
              <a:t>In terminal: </a:t>
            </a:r>
            <a:r>
              <a:rPr lang="da-DK" err="1">
                <a:cs typeface="Calibri"/>
              </a:rPr>
              <a:t>python</a:t>
            </a:r>
            <a:r>
              <a:rPr lang="da-DK">
                <a:cs typeface="Calibri"/>
              </a:rPr>
              <a:t> &lt;</a:t>
            </a:r>
            <a:r>
              <a:rPr lang="da-DK" err="1">
                <a:cs typeface="Calibri"/>
              </a:rPr>
              <a:t>name</a:t>
            </a:r>
            <a:r>
              <a:rPr lang="da-DK">
                <a:cs typeface="Calibri"/>
              </a:rPr>
              <a:t> of file&gt;</a:t>
            </a:r>
          </a:p>
          <a:p>
            <a:endParaRPr lang="da-DK">
              <a:cs typeface="Calibri"/>
            </a:endParaRPr>
          </a:p>
          <a:p>
            <a:endParaRPr lang="da-DK">
              <a:cs typeface="Calibri"/>
            </a:endParaRPr>
          </a:p>
          <a:p>
            <a:endParaRPr lang="da-DK">
              <a:cs typeface="Calibri"/>
            </a:endParaRP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F2D09BB5-4162-1A42-8589-E56418D09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07" y="2534399"/>
            <a:ext cx="7296150" cy="590550"/>
          </a:xfrm>
          <a:prstGeom prst="rect">
            <a:avLst/>
          </a:prstGeom>
        </p:spPr>
      </p:pic>
      <p:pic>
        <p:nvPicPr>
          <p:cNvPr id="5" name="Billede 4" descr="Et billede, der indeholder tekst, skærmbillede, Font/skrifttype, Grafik&#10;&#10;Beskrivelsen er genereret automatisk">
            <a:extLst>
              <a:ext uri="{FF2B5EF4-FFF2-40B4-BE49-F238E27FC236}">
                <a16:creationId xmlns:a16="http://schemas.microsoft.com/office/drawing/2014/main" id="{80ED9A3B-1D56-0636-A4E7-A6B4F982E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94" y="3266134"/>
            <a:ext cx="7408568" cy="48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895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CE45F6-525F-D30F-A014-CDD731BAD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>
                <a:cs typeface="Calibri Light"/>
              </a:rPr>
              <a:t>Debugging</a:t>
            </a:r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3C80FD8-EC4E-F46B-60FD-ED1D5E3BA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a-DK" dirty="0">
                <a:cs typeface="Calibri"/>
              </a:rPr>
              <a:t>Use the debugger. It is nice. Especially for python &gt; 3.10</a:t>
            </a:r>
          </a:p>
          <a:p>
            <a:r>
              <a:rPr lang="da-DK" dirty="0">
                <a:cs typeface="Calibri"/>
              </a:rPr>
              <a:t>In pycharm add breakpoints then run using the bug icon</a:t>
            </a:r>
          </a:p>
          <a:p>
            <a:r>
              <a:rPr lang="da-DK" dirty="0">
                <a:cs typeface="Calibri"/>
              </a:rPr>
              <a:t>VSCode ”Ctrl + Shift + D” choose debugger of choice</a:t>
            </a:r>
          </a:p>
        </p:txBody>
      </p:sp>
    </p:spTree>
    <p:extLst>
      <p:ext uri="{BB962C8B-B14F-4D97-AF65-F5344CB8AC3E}">
        <p14:creationId xmlns:p14="http://schemas.microsoft.com/office/powerpoint/2010/main" val="3345201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C43E9C-8B56-E222-B12D-695AD7CBF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>
                <a:cs typeface="Calibri Light"/>
              </a:rPr>
              <a:t>Data types</a:t>
            </a:r>
            <a:endParaRPr lang="da-DK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2EFBD60E-91C5-E726-116B-A4DEC7353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02272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Int</a:t>
            </a:r>
            <a:endParaRPr lang="da-DK" dirty="0"/>
          </a:p>
          <a:p>
            <a:pPr lvl="1"/>
            <a:r>
              <a:rPr lang="en-US" dirty="0"/>
              <a:t>Python: ‘int’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C#: ‘int’ 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/>
              <a:t>Float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Python: ‘float’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C#: ‘float/double’ 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/>
              <a:t>Boolean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Python: ‘bool’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C#: ‘bool’ 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/>
              <a:t>String</a:t>
            </a:r>
            <a:endParaRPr lang="en-US" dirty="0">
              <a:cs typeface="Calibri" panose="020F0502020204030204"/>
            </a:endParaRPr>
          </a:p>
          <a:p>
            <a:pPr lvl="1"/>
            <a:r>
              <a:rPr lang="en-US" dirty="0"/>
              <a:t>Python: ‘str’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C#: ‘string’ 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AB663042-C740-F831-55EF-5B8AE98E8FD4}"/>
              </a:ext>
            </a:extLst>
          </p:cNvPr>
          <p:cNvSpPr txBox="1"/>
          <p:nvPr/>
        </p:nvSpPr>
        <p:spPr>
          <a:xfrm>
            <a:off x="838200" y="6096000"/>
            <a:ext cx="58632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For more:</a:t>
            </a:r>
            <a:br>
              <a:rPr lang="en-US"/>
            </a:br>
            <a:r>
              <a:rPr lang="en-US">
                <a:hlinkClick r:id="rId2"/>
              </a:rPr>
              <a:t>https://www.w3schools.com/python/python_datatypes.asp</a:t>
            </a:r>
            <a:r>
              <a:rPr lang="en-US"/>
              <a:t> </a:t>
            </a:r>
            <a:endParaRPr lang="en-DK"/>
          </a:p>
          <a:p>
            <a:endParaRPr lang="en-DK"/>
          </a:p>
        </p:txBody>
      </p:sp>
      <p:sp>
        <p:nvSpPr>
          <p:cNvPr id="13" name="Pladsholder til indhold 3">
            <a:extLst>
              <a:ext uri="{FF2B5EF4-FFF2-40B4-BE49-F238E27FC236}">
                <a16:creationId xmlns:a16="http://schemas.microsoft.com/office/drawing/2014/main" id="{86C71BA0-59CB-D1F6-6751-5D3801E3CC31}"/>
              </a:ext>
            </a:extLst>
          </p:cNvPr>
          <p:cNvSpPr txBox="1">
            <a:spLocks/>
          </p:cNvSpPr>
          <p:nvPr/>
        </p:nvSpPr>
        <p:spPr>
          <a:xfrm>
            <a:off x="6096000" y="1825624"/>
            <a:ext cx="5257800" cy="4022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4" name="Pladsholder til indhold 3">
            <a:extLst>
              <a:ext uri="{FF2B5EF4-FFF2-40B4-BE49-F238E27FC236}">
                <a16:creationId xmlns:a16="http://schemas.microsoft.com/office/drawing/2014/main" id="{F9C2B74B-501C-E427-F9E0-C2E2677C2F30}"/>
              </a:ext>
            </a:extLst>
          </p:cNvPr>
          <p:cNvSpPr txBox="1">
            <a:spLocks/>
          </p:cNvSpPr>
          <p:nvPr/>
        </p:nvSpPr>
        <p:spPr>
          <a:xfrm>
            <a:off x="6096000" y="1825623"/>
            <a:ext cx="5257800" cy="402272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List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Python: ‘list’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C#: ‘</a:t>
            </a:r>
            <a:r>
              <a:rPr lang="en-US" dirty="0" err="1"/>
              <a:t>ArrayList</a:t>
            </a:r>
            <a:r>
              <a:rPr lang="en-US" dirty="0"/>
              <a:t>/LinkedList’ </a:t>
            </a:r>
          </a:p>
          <a:p>
            <a:pPr marL="0" indent="0">
              <a:buNone/>
            </a:pPr>
            <a:r>
              <a:rPr lang="en-US" dirty="0"/>
              <a:t>Tuple(immutable)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Python: ‘tuple’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C#: ‘</a:t>
            </a:r>
            <a:r>
              <a:rPr lang="en-US" dirty="0" err="1"/>
              <a:t>ImmutableList</a:t>
            </a:r>
            <a:r>
              <a:rPr lang="en-US" dirty="0"/>
              <a:t>’ </a:t>
            </a: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/>
              <a:t>Dictionary</a:t>
            </a:r>
          </a:p>
          <a:p>
            <a:pPr lvl="1"/>
            <a:r>
              <a:rPr lang="en-US" dirty="0"/>
              <a:t>Python: ‘</a:t>
            </a:r>
            <a:r>
              <a:rPr lang="en-US" dirty="0" err="1"/>
              <a:t>dict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C#: ‘</a:t>
            </a:r>
            <a:r>
              <a:rPr lang="en-US" dirty="0" err="1"/>
              <a:t>Hashtable</a:t>
            </a:r>
            <a:r>
              <a:rPr lang="en-US" dirty="0"/>
              <a:t>’ 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Set</a:t>
            </a:r>
          </a:p>
          <a:p>
            <a:pPr lvl="1"/>
            <a:r>
              <a:rPr lang="en-US" dirty="0"/>
              <a:t>Python: ‘set’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C#: ‘HashSet’ </a:t>
            </a:r>
            <a:endParaRPr lang="en-US" dirty="0"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399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06D82B-45A2-14E8-3F08-56AF10D6B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>
                <a:cs typeface="Calibri Light"/>
              </a:rPr>
              <a:t>loops</a:t>
            </a:r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F3FEC4E-3147-DCE8-0CC2-F4AFC34F1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a-DK">
                <a:cs typeface="Calibri"/>
              </a:rPr>
              <a:t>For loop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>
                <a:cs typeface="Calibri"/>
              </a:rPr>
              <a:t>The range </a:t>
            </a:r>
            <a:r>
              <a:rPr lang="da-DK" err="1">
                <a:cs typeface="Calibri"/>
              </a:rPr>
              <a:t>function</a:t>
            </a:r>
          </a:p>
        </p:txBody>
      </p:sp>
      <p:pic>
        <p:nvPicPr>
          <p:cNvPr id="4" name="Billede 3" descr="Et billede, der indeholder tekst, skærmbillede, Font/skrifttype, display/skærm/fremvisning&#10;&#10;Beskrivelsen er genereret automatisk">
            <a:extLst>
              <a:ext uri="{FF2B5EF4-FFF2-40B4-BE49-F238E27FC236}">
                <a16:creationId xmlns:a16="http://schemas.microsoft.com/office/drawing/2014/main" id="{CB649B71-C3F8-3AB1-7A5C-8638D8AFC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823" y="977757"/>
            <a:ext cx="7381520" cy="498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1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06D82B-45A2-14E8-3F08-56AF10D6B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>
                <a:cs typeface="Calibri Light"/>
              </a:rPr>
              <a:t>loops</a:t>
            </a:r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F3FEC4E-3147-DCE8-0CC2-F4AFC34F1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a-DK" err="1">
                <a:cs typeface="Calibri"/>
              </a:rPr>
              <a:t>While</a:t>
            </a:r>
            <a:r>
              <a:rPr lang="da-DK">
                <a:cs typeface="Calibri"/>
              </a:rPr>
              <a:t> loop</a:t>
            </a:r>
          </a:p>
          <a:p>
            <a:endParaRPr lang="da-DK">
              <a:cs typeface="Calibri"/>
            </a:endParaRPr>
          </a:p>
        </p:txBody>
      </p:sp>
      <p:pic>
        <p:nvPicPr>
          <p:cNvPr id="5" name="Billede 4" descr="Et billede, der indeholder tekst, skærmbillede, display/skærm/fremvisning, Font/skrifttype&#10;&#10;Beskrivelsen er genereret automatisk">
            <a:extLst>
              <a:ext uri="{FF2B5EF4-FFF2-40B4-BE49-F238E27FC236}">
                <a16:creationId xmlns:a16="http://schemas.microsoft.com/office/drawing/2014/main" id="{B677EA85-6B3D-9907-0BD9-E18D8EB9D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095" y="718683"/>
            <a:ext cx="7180045" cy="535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60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50B759-59A6-1F0D-735F-C207E180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>
                <a:cs typeface="Calibri Light"/>
              </a:rPr>
              <a:t>Installing</a:t>
            </a:r>
            <a:r>
              <a:rPr lang="da-DK">
                <a:cs typeface="Calibri Light"/>
              </a:rPr>
              <a:t> </a:t>
            </a:r>
            <a:r>
              <a:rPr lang="da-DK" err="1">
                <a:cs typeface="Calibri Light"/>
              </a:rPr>
              <a:t>dependencies</a:t>
            </a:r>
            <a:endParaRPr lang="da-DK" err="1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7F4D4AD-0B2F-5764-8793-FCBA54E18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a-DK" dirty="0">
                <a:cs typeface="Calibri"/>
              </a:rPr>
              <a:t>pip install &lt;anything&gt;</a:t>
            </a:r>
          </a:p>
          <a:p>
            <a:r>
              <a:rPr lang="da-DK" dirty="0">
                <a:cs typeface="Calibri"/>
              </a:rPr>
              <a:t>requirements.txt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dirty="0">
                <a:ea typeface="+mn-lt"/>
                <a:cs typeface="+mn-lt"/>
                <a:hlinkClick r:id="rId2"/>
              </a:rPr>
              <a:t>https://learnpython.com/blog/python-requirements-file/</a:t>
            </a:r>
            <a:endParaRPr lang="da-DK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dirty="0">
                <a:ea typeface="+mn-lt"/>
                <a:cs typeface="+mn-lt"/>
                <a:hlinkClick r:id="rId3"/>
              </a:rPr>
              <a:t>https://pip.pypa.io/en/stable/reference/requirements-file-format/</a:t>
            </a:r>
            <a:r>
              <a:rPr lang="da-DK" dirty="0">
                <a:ea typeface="+mn-lt"/>
                <a:cs typeface="+mn-lt"/>
              </a:rPr>
              <a:t> </a:t>
            </a:r>
            <a:endParaRPr lang="da-DK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da-DK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da-DK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da-DK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da-DK" dirty="0">
              <a:cs typeface="Calibri"/>
            </a:endParaRPr>
          </a:p>
        </p:txBody>
      </p:sp>
      <p:pic>
        <p:nvPicPr>
          <p:cNvPr id="4" name="Billede 3" descr="Et billede, der indeholder tekst, skærmbillede, Font/skrifttype&#10;&#10;Beskrivelsen er genereret automatisk">
            <a:extLst>
              <a:ext uri="{FF2B5EF4-FFF2-40B4-BE49-F238E27FC236}">
                <a16:creationId xmlns:a16="http://schemas.microsoft.com/office/drawing/2014/main" id="{CC81BC1E-FC00-969E-D11B-7DB8A7E72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6697" y="4050165"/>
            <a:ext cx="6096000" cy="264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77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A83DC3-EC29-C60B-16DF-63B57A188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>
                <a:cs typeface="Calibri Light"/>
              </a:rPr>
              <a:t>Import </a:t>
            </a:r>
            <a:r>
              <a:rPr lang="da-DK" err="1">
                <a:cs typeface="Calibri Light"/>
              </a:rPr>
              <a:t>dependencies</a:t>
            </a:r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3E037A6-2F2C-31B6-CD18-48045AC63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a-DK">
                <a:cs typeface="Calibri"/>
              </a:rPr>
              <a:t>Import from </a:t>
            </a:r>
            <a:r>
              <a:rPr lang="da-DK" err="1">
                <a:cs typeface="Calibri"/>
              </a:rPr>
              <a:t>neighbouring</a:t>
            </a:r>
            <a:r>
              <a:rPr lang="da-DK">
                <a:cs typeface="Calibri"/>
              </a:rPr>
              <a:t> files in the same </a:t>
            </a:r>
            <a:r>
              <a:rPr lang="da-DK" err="1">
                <a:cs typeface="Calibri"/>
              </a:rPr>
              <a:t>directory</a:t>
            </a:r>
          </a:p>
          <a:p>
            <a:r>
              <a:rPr lang="da-DK">
                <a:cs typeface="Calibri"/>
              </a:rPr>
              <a:t>Import </a:t>
            </a:r>
            <a:r>
              <a:rPr lang="da-DK" err="1">
                <a:cs typeface="Calibri"/>
              </a:rPr>
              <a:t>dependencies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that</a:t>
            </a:r>
            <a:r>
              <a:rPr lang="da-DK">
                <a:cs typeface="Calibri"/>
              </a:rPr>
              <a:t> have </a:t>
            </a:r>
            <a:r>
              <a:rPr lang="da-DK" err="1">
                <a:cs typeface="Calibri"/>
              </a:rPr>
              <a:t>been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installed</a:t>
            </a:r>
            <a:r>
              <a:rPr lang="da-DK">
                <a:cs typeface="Calibri"/>
              </a:rPr>
              <a:t> with pip</a:t>
            </a:r>
          </a:p>
        </p:txBody>
      </p:sp>
      <p:pic>
        <p:nvPicPr>
          <p:cNvPr id="4" name="Billede 3" descr="Et billede, der indeholder tekst, skærmbillede, Font/skrifttype&#10;&#10;Beskrivelsen er genereret automatisk">
            <a:extLst>
              <a:ext uri="{FF2B5EF4-FFF2-40B4-BE49-F238E27FC236}">
                <a16:creationId xmlns:a16="http://schemas.microsoft.com/office/drawing/2014/main" id="{BBEDE6E2-D356-E6E5-2F02-127A57095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295" y="3669571"/>
            <a:ext cx="8918222" cy="204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615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94DFC9-A525-7360-1426-72FAB18B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>
                <a:cs typeface="Calibri Light"/>
              </a:rPr>
              <a:t>Syntactic</a:t>
            </a:r>
            <a:r>
              <a:rPr lang="da-DK">
                <a:cs typeface="Calibri Light"/>
              </a:rPr>
              <a:t> </a:t>
            </a:r>
            <a:r>
              <a:rPr lang="da-DK" err="1">
                <a:cs typeface="Calibri Light"/>
              </a:rPr>
              <a:t>sugar</a:t>
            </a:r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76DC2A9-51F6-AF60-0869-9C56FE86A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da-DK">
                <a:cs typeface="Calibri"/>
              </a:rPr>
              <a:t>Type </a:t>
            </a:r>
            <a:r>
              <a:rPr lang="da-DK" err="1">
                <a:cs typeface="Calibri"/>
              </a:rPr>
              <a:t>hinting</a:t>
            </a:r>
            <a:endParaRPr lang="da-DK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da-DK">
                <a:ea typeface="+mn-lt"/>
                <a:cs typeface="+mn-lt"/>
                <a:hlinkClick r:id="rId2"/>
              </a:rPr>
              <a:t>https://docs.python.org/3/library/typing.html</a:t>
            </a:r>
            <a:r>
              <a:rPr lang="da-DK">
                <a:ea typeface="+mn-lt"/>
                <a:cs typeface="+mn-lt"/>
              </a:rPr>
              <a:t> </a:t>
            </a:r>
            <a:endParaRPr lang="da-DK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da-DK">
                <a:cs typeface="Calibri"/>
              </a:rPr>
              <a:t>More </a:t>
            </a:r>
            <a:r>
              <a:rPr lang="da-DK" err="1">
                <a:cs typeface="Calibri"/>
              </a:rPr>
              <a:t>maintainable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code</a:t>
            </a:r>
            <a:r>
              <a:rPr lang="da-DK">
                <a:cs typeface="Calibri"/>
              </a:rPr>
              <a:t> and </a:t>
            </a:r>
            <a:r>
              <a:rPr lang="da-DK" err="1">
                <a:cs typeface="Calibri"/>
              </a:rPr>
              <a:t>less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headaches</a:t>
            </a:r>
            <a:endParaRPr lang="da-DK">
              <a:cs typeface="Calibri"/>
            </a:endParaRPr>
          </a:p>
          <a:p>
            <a:r>
              <a:rPr lang="da-DK">
                <a:cs typeface="Calibri"/>
              </a:rPr>
              <a:t>List </a:t>
            </a:r>
            <a:r>
              <a:rPr lang="da-DK" err="1">
                <a:cs typeface="Calibri"/>
              </a:rPr>
              <a:t>comprehensions</a:t>
            </a:r>
            <a:endParaRPr lang="da-DK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da-DK">
                <a:ea typeface="+mn-lt"/>
                <a:cs typeface="+mn-lt"/>
                <a:hlinkClick r:id="rId3"/>
              </a:rPr>
              <a:t>https://docs.python.org/3/tutorial/datastructures.html</a:t>
            </a:r>
            <a:r>
              <a:rPr lang="da-DK">
                <a:ea typeface="+mn-lt"/>
                <a:cs typeface="+mn-lt"/>
              </a:rPr>
              <a:t> </a:t>
            </a:r>
            <a:endParaRPr lang="da-DK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da-DK">
                <a:cs typeface="Calibri"/>
              </a:rPr>
              <a:t>Concise </a:t>
            </a:r>
            <a:r>
              <a:rPr lang="da-DK" err="1">
                <a:cs typeface="Calibri"/>
              </a:rPr>
              <a:t>creations</a:t>
            </a:r>
            <a:r>
              <a:rPr lang="da-DK">
                <a:cs typeface="Calibri"/>
              </a:rPr>
              <a:t> of lists, </a:t>
            </a:r>
            <a:r>
              <a:rPr lang="da-DK" err="1">
                <a:cs typeface="Calibri"/>
              </a:rPr>
              <a:t>that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are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also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readable</a:t>
            </a:r>
            <a:endParaRPr lang="da-DK">
              <a:cs typeface="Calibri"/>
            </a:endParaRPr>
          </a:p>
          <a:p>
            <a:r>
              <a:rPr lang="da-DK" err="1">
                <a:cs typeface="Calibri"/>
              </a:rPr>
              <a:t>Ternary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if</a:t>
            </a:r>
            <a:r>
              <a:rPr lang="da-DK">
                <a:cs typeface="Calibri"/>
              </a:rPr>
              <a:t> statements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>
                <a:ea typeface="+mn-lt"/>
                <a:cs typeface="+mn-lt"/>
                <a:hlinkClick r:id="rId4"/>
              </a:rPr>
              <a:t>https://www.geeksforgeeks.org/ternary-operator-in-python/</a:t>
            </a:r>
            <a:r>
              <a:rPr lang="da-DK">
                <a:ea typeface="+mn-lt"/>
                <a:cs typeface="+mn-lt"/>
              </a:rPr>
              <a:t> </a:t>
            </a:r>
            <a:endParaRPr lang="da-DK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err="1">
                <a:cs typeface="Calibri"/>
              </a:rPr>
              <a:t>Denser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code</a:t>
            </a:r>
          </a:p>
          <a:p>
            <a:r>
              <a:rPr lang="da-DK">
                <a:cs typeface="Calibri"/>
              </a:rPr>
              <a:t>Lambda </a:t>
            </a:r>
            <a:r>
              <a:rPr lang="da-DK" err="1">
                <a:cs typeface="Calibri"/>
              </a:rPr>
              <a:t>functions</a:t>
            </a:r>
            <a:endParaRPr lang="da-DK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da-DK">
                <a:ea typeface="+mn-lt"/>
                <a:cs typeface="+mn-lt"/>
                <a:hlinkClick r:id="rId5"/>
              </a:rPr>
              <a:t>https://www.w3schools.com/python/python_lambda.asp</a:t>
            </a:r>
            <a:r>
              <a:rPr lang="da-DK">
                <a:ea typeface="+mn-lt"/>
                <a:cs typeface="+mn-lt"/>
              </a:rPr>
              <a:t> </a:t>
            </a:r>
            <a:endParaRPr lang="da-DK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err="1">
                <a:cs typeface="Calibri"/>
              </a:rPr>
              <a:t>Anonymous</a:t>
            </a:r>
            <a:r>
              <a:rPr lang="da-DK">
                <a:cs typeface="Calibri"/>
              </a:rPr>
              <a:t> functions</a:t>
            </a:r>
          </a:p>
          <a:p>
            <a:endParaRPr lang="da-DK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027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FD5138-0C4A-8673-1821-67FF36BE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>
                <a:cs typeface="Calibri Light"/>
              </a:rPr>
              <a:t>About</a:t>
            </a:r>
            <a:r>
              <a:rPr lang="da-DK">
                <a:cs typeface="Calibri Light"/>
              </a:rPr>
              <a:t> </a:t>
            </a:r>
            <a:r>
              <a:rPr lang="da-DK" err="1">
                <a:cs typeface="Calibri Light"/>
              </a:rPr>
              <a:t>readability</a:t>
            </a:r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463A3B3-C250-88DD-CDC1-E064E6923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da-DK">
                <a:cs typeface="Calibri"/>
              </a:rPr>
              <a:t>PEP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>
                <a:cs typeface="Calibri"/>
              </a:rPr>
              <a:t>The </a:t>
            </a:r>
            <a:r>
              <a:rPr lang="da-DK" err="1">
                <a:cs typeface="Calibri"/>
              </a:rPr>
              <a:t>python</a:t>
            </a:r>
            <a:r>
              <a:rPr lang="da-DK">
                <a:cs typeface="Calibri"/>
              </a:rPr>
              <a:t> standard for </a:t>
            </a:r>
            <a:r>
              <a:rPr lang="da-DK" err="1">
                <a:cs typeface="Calibri"/>
              </a:rPr>
              <a:t>how</a:t>
            </a:r>
            <a:r>
              <a:rPr lang="da-DK">
                <a:cs typeface="Calibri"/>
              </a:rPr>
              <a:t> to </a:t>
            </a:r>
            <a:r>
              <a:rPr lang="da-DK" err="1">
                <a:cs typeface="Calibri"/>
              </a:rPr>
              <a:t>write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this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language</a:t>
            </a:r>
            <a:endParaRPr lang="da-DK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err="1">
                <a:cs typeface="Calibri"/>
              </a:rPr>
              <a:t>Includes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things</a:t>
            </a:r>
            <a:r>
              <a:rPr lang="da-DK">
                <a:cs typeface="Calibri"/>
              </a:rPr>
              <a:t> like </a:t>
            </a:r>
            <a:r>
              <a:rPr lang="da-DK" err="1">
                <a:cs typeface="Calibri"/>
              </a:rPr>
              <a:t>using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snake_case</a:t>
            </a:r>
            <a:endParaRPr lang="da-DK">
              <a:cs typeface="Calibri"/>
            </a:endParaRPr>
          </a:p>
          <a:p>
            <a:pPr marL="457200" lvl="1" indent="0">
              <a:buNone/>
            </a:pPr>
            <a:endParaRPr lang="da-DK">
              <a:cs typeface="Calibri"/>
            </a:endParaRPr>
          </a:p>
          <a:p>
            <a:r>
              <a:rPr lang="da-DK">
                <a:cs typeface="Calibri"/>
              </a:rPr>
              <a:t>Type hint </a:t>
            </a:r>
            <a:r>
              <a:rPr lang="da-DK" err="1">
                <a:cs typeface="Calibri"/>
              </a:rPr>
              <a:t>your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code</a:t>
            </a:r>
            <a:endParaRPr lang="da-DK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err="1">
                <a:cs typeface="Calibri"/>
              </a:rPr>
              <a:t>We</a:t>
            </a:r>
            <a:r>
              <a:rPr lang="da-DK">
                <a:cs typeface="Calibri"/>
              </a:rPr>
              <a:t> have done it, so </a:t>
            </a:r>
            <a:r>
              <a:rPr lang="da-DK" err="1">
                <a:cs typeface="Calibri"/>
              </a:rPr>
              <a:t>you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can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too</a:t>
            </a:r>
            <a:endParaRPr lang="da-DK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err="1">
                <a:cs typeface="Calibri"/>
              </a:rPr>
              <a:t>Everyone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will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be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better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off</a:t>
            </a:r>
            <a:r>
              <a:rPr lang="da-DK">
                <a:cs typeface="Calibri"/>
              </a:rPr>
              <a:t> from it</a:t>
            </a:r>
          </a:p>
          <a:p>
            <a:pPr marL="457200" lvl="1" indent="0">
              <a:buNone/>
            </a:pPr>
            <a:endParaRPr lang="da-DK">
              <a:cs typeface="Calibri"/>
            </a:endParaRPr>
          </a:p>
          <a:p>
            <a:r>
              <a:rPr lang="da-DK">
                <a:cs typeface="Calibri"/>
              </a:rPr>
              <a:t>Write </a:t>
            </a:r>
            <a:r>
              <a:rPr lang="da-DK" err="1">
                <a:cs typeface="Calibri"/>
              </a:rPr>
              <a:t>docstrings</a:t>
            </a:r>
            <a:r>
              <a:rPr lang="da-DK">
                <a:cs typeface="Calibri"/>
              </a:rPr>
              <a:t> for </a:t>
            </a:r>
            <a:r>
              <a:rPr lang="da-DK" err="1">
                <a:cs typeface="Calibri"/>
              </a:rPr>
              <a:t>your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functions</a:t>
            </a:r>
            <a:endParaRPr lang="da-DK">
              <a:cs typeface="Calibri"/>
            </a:endParaRPr>
          </a:p>
          <a:p>
            <a:endParaRPr lang="da-DK">
              <a:cs typeface="Calibri"/>
            </a:endParaRPr>
          </a:p>
          <a:p>
            <a:r>
              <a:rPr lang="da-DK">
                <a:cs typeface="Calibri"/>
              </a:rPr>
              <a:t>Python as a </a:t>
            </a:r>
            <a:r>
              <a:rPr lang="da-DK" err="1">
                <a:cs typeface="Calibri"/>
              </a:rPr>
              <a:t>language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aims</a:t>
            </a:r>
            <a:r>
              <a:rPr lang="da-DK">
                <a:cs typeface="Calibri"/>
              </a:rPr>
              <a:t> to </a:t>
            </a:r>
            <a:r>
              <a:rPr lang="da-DK" err="1">
                <a:cs typeface="Calibri"/>
              </a:rPr>
              <a:t>be</a:t>
            </a:r>
            <a:r>
              <a:rPr lang="da-DK">
                <a:cs typeface="Calibri"/>
              </a:rPr>
              <a:t> </a:t>
            </a:r>
            <a:r>
              <a:rPr lang="da-DK" err="1">
                <a:cs typeface="Calibri"/>
              </a:rPr>
              <a:t>readable</a:t>
            </a:r>
            <a:r>
              <a:rPr lang="da-DK">
                <a:cs typeface="Calibri"/>
              </a:rPr>
              <a:t>, by </a:t>
            </a:r>
            <a:r>
              <a:rPr lang="da-DK" err="1">
                <a:cs typeface="Calibri"/>
              </a:rPr>
              <a:t>spelling</a:t>
            </a:r>
            <a:r>
              <a:rPr lang="da-DK">
                <a:cs typeface="Calibri"/>
              </a:rPr>
              <a:t> out operations</a:t>
            </a:r>
          </a:p>
        </p:txBody>
      </p:sp>
    </p:spTree>
    <p:extLst>
      <p:ext uri="{BB962C8B-B14F-4D97-AF65-F5344CB8AC3E}">
        <p14:creationId xmlns:p14="http://schemas.microsoft.com/office/powerpoint/2010/main" val="38652848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CBC380-481C-2E53-EAE7-D2FAD257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>
                <a:cs typeface="Calibri Light"/>
              </a:rPr>
              <a:t>And so </a:t>
            </a:r>
            <a:r>
              <a:rPr lang="da-DK" err="1">
                <a:cs typeface="Calibri Light"/>
              </a:rPr>
              <a:t>much</a:t>
            </a:r>
            <a:r>
              <a:rPr lang="da-DK">
                <a:cs typeface="Calibri Light"/>
              </a:rPr>
              <a:t> more</a:t>
            </a:r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1C88124-9FD9-2A7B-F945-9E20BD89A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da-DK" dirty="0">
                <a:cs typeface="Calibri"/>
              </a:rPr>
              <a:t>Utilizing Python to its full extent is a much much longer course</a:t>
            </a:r>
          </a:p>
          <a:p>
            <a:r>
              <a:rPr lang="da-DK" dirty="0">
                <a:cs typeface="Calibri"/>
              </a:rPr>
              <a:t>Some things we have not even grazed: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dirty="0">
                <a:cs typeface="Calibri"/>
              </a:rPr>
              <a:t>Classes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dirty="0">
                <a:cs typeface="Calibri"/>
              </a:rPr>
              <a:t>"magic" methods (__&lt;something&gt;__)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dirty="0">
                <a:cs typeface="Calibri"/>
              </a:rPr>
              <a:t>Inheritance 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da-DK" dirty="0">
                <a:cs typeface="Calibri"/>
              </a:rPr>
              <a:t>Including multiple inheritance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dirty="0">
                <a:cs typeface="Calibri"/>
              </a:rPr>
              <a:t>Async/await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da-DK" dirty="0">
                <a:cs typeface="Calibri"/>
              </a:rPr>
              <a:t>Including asyncio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dirty="0">
                <a:cs typeface="Calibri"/>
              </a:rPr>
              <a:t>The GIL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dirty="0">
                <a:cs typeface="Calibri"/>
              </a:rPr>
              <a:t>Threads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dirty="0">
                <a:cs typeface="Calibri"/>
              </a:rPr>
              <a:t>Exception handling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da-DK" dirty="0">
                <a:cs typeface="Calibri"/>
              </a:rPr>
              <a:t>Try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da-DK" dirty="0">
                <a:cs typeface="Calibri"/>
              </a:rPr>
              <a:t>Except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dirty="0">
                <a:cs typeface="Calibri"/>
              </a:rPr>
              <a:t>The variable called __name__</a:t>
            </a:r>
          </a:p>
        </p:txBody>
      </p:sp>
    </p:spTree>
    <p:extLst>
      <p:ext uri="{BB962C8B-B14F-4D97-AF65-F5344CB8AC3E}">
        <p14:creationId xmlns:p14="http://schemas.microsoft.com/office/powerpoint/2010/main" val="2572938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3C6BD4-8816-75D6-FEC4-EBC9CBA12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>
                <a:cs typeface="Calibri Light"/>
              </a:rPr>
              <a:t>Todays</a:t>
            </a:r>
            <a:r>
              <a:rPr lang="da-DK">
                <a:cs typeface="Calibri Light"/>
              </a:rPr>
              <a:t> </a:t>
            </a:r>
            <a:r>
              <a:rPr lang="da-DK" err="1">
                <a:cs typeface="Calibri Light"/>
              </a:rPr>
              <a:t>Exercises</a:t>
            </a:r>
            <a:endParaRPr lang="da-DK" err="1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7C57707-5073-AD6C-BFF0-4B81E93AE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324"/>
            <a:ext cx="10515600" cy="5210175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da-DK" dirty="0">
                <a:cs typeface="Calibri"/>
              </a:rPr>
              <a:t>No mandatory assignments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dirty="0">
                <a:cs typeface="Calibri"/>
              </a:rPr>
              <a:t>But! The exam will contain questions that can only be answered after having solved the exercises</a:t>
            </a:r>
          </a:p>
          <a:p>
            <a:endParaRPr lang="da-DK" dirty="0">
              <a:cs typeface="Calibri"/>
            </a:endParaRPr>
          </a:p>
          <a:p>
            <a:r>
              <a:rPr lang="da-DK" dirty="0">
                <a:cs typeface="Calibri"/>
              </a:rPr>
              <a:t>The exercises are split into assignments and homework.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dirty="0">
                <a:cs typeface="Calibri"/>
              </a:rPr>
              <a:t>You are welcome to work on both while here, but we expect you to finish the assignments.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dirty="0">
                <a:cs typeface="Calibri"/>
              </a:rPr>
              <a:t>We dont expect you to finish both homework and assignments while here</a:t>
            </a:r>
          </a:p>
          <a:p>
            <a:pPr>
              <a:buFont typeface="Courier New" panose="020B0604020202020204" pitchFamily="34" charset="0"/>
              <a:buChar char="o"/>
            </a:pPr>
            <a:endParaRPr lang="da-DK" dirty="0">
              <a:cs typeface="Calibri"/>
            </a:endParaRPr>
          </a:p>
          <a:p>
            <a:r>
              <a:rPr lang="da-DK" dirty="0">
                <a:cs typeface="Calibri"/>
              </a:rPr>
              <a:t>We will not hand out solutions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dirty="0">
                <a:cs typeface="Calibri"/>
              </a:rPr>
              <a:t>We will only provide solutions the week after, only by showing them in class.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da-DK" dirty="0">
              <a:cs typeface="Calibri"/>
            </a:endParaRPr>
          </a:p>
          <a:p>
            <a:r>
              <a:rPr lang="da-DK" dirty="0">
                <a:cs typeface="Calibri"/>
              </a:rPr>
              <a:t>The assignments are in a separate pdf on itsLearning and alongside the code</a:t>
            </a:r>
          </a:p>
          <a:p>
            <a:endParaRPr lang="da-DK" dirty="0">
              <a:cs typeface="Calibri"/>
            </a:endParaRPr>
          </a:p>
          <a:p>
            <a:r>
              <a:rPr lang="da-DK" dirty="0">
                <a:cs typeface="Calibri"/>
              </a:rPr>
              <a:t>The code is shared through GitLab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dirty="0">
                <a:ea typeface="+mn-lt"/>
                <a:cs typeface="+mn-lt"/>
                <a:hlinkClick r:id="rId2"/>
              </a:rPr>
              <a:t>https://gitlab.sdu.dk/ai-course-f24/ai-course-f24-labs</a:t>
            </a:r>
            <a:r>
              <a:rPr lang="da-DK" dirty="0">
                <a:ea typeface="+mn-lt"/>
                <a:cs typeface="+mn-lt"/>
              </a:rPr>
              <a:t>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dirty="0">
                <a:cs typeface="Calibri"/>
              </a:rPr>
              <a:t>Fork the repo to get your own copy, but dont open pull requests unless to fix mistakes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dirty="0">
                <a:cs typeface="Calibri"/>
              </a:rPr>
              <a:t>Next week we will show how to get your repo updated with labs2 (dont create the folders on your own)</a:t>
            </a:r>
          </a:p>
        </p:txBody>
      </p:sp>
    </p:spTree>
    <p:extLst>
      <p:ext uri="{BB962C8B-B14F-4D97-AF65-F5344CB8AC3E}">
        <p14:creationId xmlns:p14="http://schemas.microsoft.com/office/powerpoint/2010/main" val="925487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902</Words>
  <Application>Microsoft Office PowerPoint</Application>
  <PresentationFormat>Widescreen</PresentationFormat>
  <Paragraphs>166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Arial</vt:lpstr>
      <vt:lpstr>Calibri</vt:lpstr>
      <vt:lpstr>Calibri Light</vt:lpstr>
      <vt:lpstr>Courier New</vt:lpstr>
      <vt:lpstr>inherit</vt:lpstr>
      <vt:lpstr>Wingdings</vt:lpstr>
      <vt:lpstr>Office-tema</vt:lpstr>
      <vt:lpstr>Introduction to Python</vt:lpstr>
      <vt:lpstr>What is Python</vt:lpstr>
      <vt:lpstr>The REPL?</vt:lpstr>
      <vt:lpstr>Installing Python</vt:lpstr>
      <vt:lpstr>IDE</vt:lpstr>
      <vt:lpstr>Virtual environment (Venv) PyCharm</vt:lpstr>
      <vt:lpstr>Virtual environment (Venv) VSCode</vt:lpstr>
      <vt:lpstr>Variables</vt:lpstr>
      <vt:lpstr>Functions</vt:lpstr>
      <vt:lpstr>Printing</vt:lpstr>
      <vt:lpstr>Comments</vt:lpstr>
      <vt:lpstr>Running code</vt:lpstr>
      <vt:lpstr>Debugging</vt:lpstr>
      <vt:lpstr>Data types</vt:lpstr>
      <vt:lpstr>loops</vt:lpstr>
      <vt:lpstr>loops</vt:lpstr>
      <vt:lpstr>Installing dependencies</vt:lpstr>
      <vt:lpstr>Import dependencies</vt:lpstr>
      <vt:lpstr>Syntactic sugar</vt:lpstr>
      <vt:lpstr>About readability</vt:lpstr>
      <vt:lpstr>And so much more</vt:lpstr>
      <vt:lpstr>Todays 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</dc:title>
  <dc:creator>Rasmus Christiansen</dc:creator>
  <cp:lastModifiedBy>Thor Malmby Jørgin</cp:lastModifiedBy>
  <cp:revision>11</cp:revision>
  <dcterms:created xsi:type="dcterms:W3CDTF">2024-02-08T12:49:29Z</dcterms:created>
  <dcterms:modified xsi:type="dcterms:W3CDTF">2026-02-18T09:00:10Z</dcterms:modified>
</cp:coreProperties>
</file>